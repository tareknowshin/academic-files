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embeddedFontLst>
    <p:embeddedFont>
      <p:font typeface="Calibri" panose="020F0502020204030204"/>
      <p:regular r:id="rId18"/>
      <p:bold r:id="rId19"/>
      <p:italic r:id="rId20"/>
      <p:boldItalic r:id="rId21"/>
    </p:embeddedFont>
    <p:embeddedFont>
      <p:font typeface="Roboto Medium" panose="02000000000000000000"/>
      <p:regular r:id="rId22"/>
      <p:bold r:id="rId23"/>
      <p:italic r:id="rId24"/>
      <p:boldItalic r:id="rId25"/>
    </p:embeddedFont>
    <p:embeddedFont>
      <p:font typeface="Roboto" panose="02000000000000000000"/>
      <p:regular r:id="rId26"/>
      <p:bold r:id="rId27"/>
      <p:italic r:id="rId28"/>
      <p:boldItalic r:id="rId29"/>
    </p:embeddedFont>
    <p:embeddedFont>
      <p:font typeface="Lato" panose="020F0502020204030203"/>
      <p:regular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63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63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6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Google Shape;85;p13" descr="image.png"/>
          <p:cNvPicPr preferRelativeResize="0"/>
          <p:nvPr/>
        </p:nvPicPr>
        <p:blipFill rotWithShape="1">
          <a:blip r:embed="rId2">
            <a:alphaModFix amt="80000"/>
            <a:lum bright="-6000" contrast="12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50" y="1891754"/>
            <a:ext cx="900112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COMPARATIVE ANALYSIS</a:t>
            </a:r>
            <a:endParaRPr lang="en-US" sz="1350" b="0" i="0" u="none" strike="noStrike" cap="none">
              <a:solidFill>
                <a:srgbClr val="64748B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2240309"/>
            <a:ext cx="900112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000" b="1" i="0" u="none" strike="noStrike" cap="none"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Challenges and gaps of health</a:t>
            </a:r>
            <a:endParaRPr lang="en-US" altLang="en-US" sz="4000" b="1" i="0" u="none" strike="noStrike" cap="none"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  <a:solidFill>
                <a:schemeClr val="accent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000" b="1" i="0" u="none" strike="noStrike" cap="none"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insurance policy in Bangladesh and</a:t>
            </a:r>
            <a:endParaRPr lang="en-US" altLang="en-US" sz="4000" b="1" i="0" u="none" strike="noStrike" cap="none"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  <a:solidFill>
                <a:schemeClr val="accent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000" b="1" i="0" u="none" strike="noStrike" cap="none"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how to solve extent conundrum based</a:t>
            </a:r>
            <a:endParaRPr lang="en-US" altLang="en-US" sz="4000" b="1" i="0" u="none" strike="noStrike" cap="none"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  <a:solidFill>
                <a:schemeClr val="accent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000" b="1" i="0" u="none" strike="noStrike" cap="none"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on health security system in Japan</a:t>
            </a:r>
            <a:endParaRPr lang="en-US" altLang="en-US" sz="4000" b="1" i="0" u="none" strike="noStrike" cap="none"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  <a:solidFill>
                <a:schemeClr val="accent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369A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Presented By</a:t>
            </a:r>
            <a:endParaRPr lang="en-US" sz="3150" b="1" i="0" u="none" strike="noStrike" cap="none">
              <a:solidFill>
                <a:srgbClr val="0369A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71500" y="109909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119812" y="2608957"/>
            <a:ext cx="5500687" cy="38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bg2">
                    <a:lumMod val="60000"/>
                    <a:lumOff val="40000"/>
                  </a:schemeClr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Submission Date</a:t>
            </a:r>
            <a:endParaRPr lang="en-US" sz="2100" b="1" i="0" u="none" strike="noStrike" cap="none">
              <a:solidFill>
                <a:schemeClr val="bg2">
                  <a:lumMod val="60000"/>
                  <a:lumOff val="40000"/>
                </a:schemeClr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243262"/>
            <a:ext cx="523875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bg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05 December, 2025</a:t>
            </a:r>
            <a:endParaRPr lang="en-US" sz="1350" b="1" i="0" u="none" strike="noStrike" cap="none">
              <a:solidFill>
                <a:schemeClr val="bg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119812" y="3841402"/>
            <a:ext cx="5500687" cy="38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chemeClr val="bg2">
                    <a:lumMod val="60000"/>
                    <a:lumOff val="40000"/>
                  </a:schemeClr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Department</a:t>
            </a:r>
            <a:endParaRPr lang="en-US" sz="2100" b="1" i="0" u="none" strike="noStrike" cap="none">
              <a:solidFill>
                <a:schemeClr val="bg2">
                  <a:lumMod val="60000"/>
                  <a:lumOff val="40000"/>
                </a:schemeClr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4475708"/>
            <a:ext cx="5238750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bg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Department of Public Health</a:t>
            </a:r>
            <a:br>
              <a:rPr lang="en-US" sz="1800" b="1" i="0" u="none" strike="noStrike" cap="none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1" i="0" u="none" strike="noStrike" cap="none">
                <a:solidFill>
                  <a:schemeClr val="bg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North South University</a:t>
            </a:r>
            <a:endParaRPr lang="en-US" sz="1350" b="1" i="0" u="none" strike="noStrike" cap="none">
              <a:solidFill>
                <a:schemeClr val="bg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9" name="Google Shape;99;p14"/>
          <p:cNvSpPr txBox="1"/>
          <p:nvPr>
            <p:custDataLst>
              <p:tags r:id="rId1"/>
            </p:custDataLst>
          </p:nvPr>
        </p:nvSpPr>
        <p:spPr>
          <a:xfrm>
            <a:off x="762000" y="1546770"/>
            <a:ext cx="50482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Mahmuda Akter Asa</a:t>
            </a:r>
            <a:br>
              <a:rPr lang="en-US"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ID: 2527047680</a:t>
            </a:r>
            <a:endParaRPr lang="en-US" sz="20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0" name="Google Shape;100;p14"/>
          <p:cNvSpPr/>
          <p:nvPr>
            <p:custDataLst>
              <p:tags r:id="rId2"/>
            </p:custDataLst>
          </p:nvPr>
        </p:nvSpPr>
        <p:spPr>
          <a:xfrm>
            <a:off x="571500" y="1654720"/>
            <a:ext cx="38100" cy="5485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4"/>
          <p:cNvSpPr txBox="1"/>
          <p:nvPr>
            <p:custDataLst>
              <p:tags r:id="rId3"/>
            </p:custDataLst>
          </p:nvPr>
        </p:nvSpPr>
        <p:spPr>
          <a:xfrm>
            <a:off x="762000" y="2381101"/>
            <a:ext cx="50482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Dr. Nashid Sultana</a:t>
            </a:r>
            <a:br>
              <a:rPr lang="en-US"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ID: 2527295080</a:t>
            </a:r>
            <a:endParaRPr lang="en-US" sz="20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2" name="Google Shape;102;p14"/>
          <p:cNvSpPr/>
          <p:nvPr>
            <p:custDataLst>
              <p:tags r:id="rId4"/>
            </p:custDataLst>
          </p:nvPr>
        </p:nvSpPr>
        <p:spPr>
          <a:xfrm>
            <a:off x="571500" y="2489051"/>
            <a:ext cx="38100" cy="5485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14"/>
          <p:cNvSpPr txBox="1"/>
          <p:nvPr>
            <p:custDataLst>
              <p:tags r:id="rId5"/>
            </p:custDataLst>
          </p:nvPr>
        </p:nvSpPr>
        <p:spPr>
          <a:xfrm>
            <a:off x="762000" y="3215431"/>
            <a:ext cx="50482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Nawreen Jahan</a:t>
            </a:r>
            <a:br>
              <a:rPr lang="en-US"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0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ID: 2527522080</a:t>
            </a:r>
            <a:endParaRPr lang="en-US" sz="2000" b="0" i="0" u="none" strike="noStrike" cap="none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4" name="Google Shape;104;p14"/>
          <p:cNvSpPr/>
          <p:nvPr>
            <p:custDataLst>
              <p:tags r:id="rId6"/>
            </p:custDataLst>
          </p:nvPr>
        </p:nvSpPr>
        <p:spPr>
          <a:xfrm>
            <a:off x="571500" y="3344971"/>
            <a:ext cx="38100" cy="5485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53300" y="1982985"/>
            <a:ext cx="42672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369A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Health System Overview</a:t>
            </a:r>
            <a:endParaRPr lang="en-US" sz="3150" b="1" i="0" u="none" strike="noStrike" cap="none">
              <a:solidFill>
                <a:srgbClr val="0369A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71500" y="109909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221259"/>
            <a:ext cx="672084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Definition &amp; Goals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712690"/>
            <a:ext cx="6400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health system consists of all organizations, institutions, resources, and people whose primary intent is to promote, restore, or maintain health.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432720"/>
            <a:ext cx="6400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Core Goals: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Improving population health, responding to expectations, and providing financial protection against illness costs.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4171801"/>
            <a:ext cx="6400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371826"/>
            <a:ext cx="672084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The Bangladesh Context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863256"/>
            <a:ext cx="6400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Health care finance is crucial, but unfortunately, Bangladesh spends </a:t>
            </a:r>
            <a:r>
              <a:rPr lang="en-US" sz="1350" b="1" i="0" u="none" strike="noStrike" cap="none">
                <a:solidFill>
                  <a:srgbClr val="0EA5E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less than 1% of GDP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health, which is one of the lowest in South Asia.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353300" y="1982985"/>
            <a:ext cx="42672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394370"/>
            <a:ext cx="5238750" cy="346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1394370"/>
            <a:ext cx="5238750" cy="319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369A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Context: Rights &amp; Reality</a:t>
            </a:r>
            <a:endParaRPr lang="en-US" sz="3150" b="1" i="0" u="none" strike="noStrike" cap="none">
              <a:solidFill>
                <a:srgbClr val="0369A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109909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95350" y="1680120"/>
            <a:ext cx="486060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Constitutional Mandate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95350" y="2171551"/>
            <a:ext cx="46291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Article 15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of the Constitution of Bangladesh states the fundamental principle to ensure the fulfillment of basic necessities.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895350" y="3165871"/>
            <a:ext cx="4629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state is directed to ensure the provision of basic needs such as food, clothing, shelter, and medical care.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95350" y="3885902"/>
            <a:ext cx="4629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Health insurance plays a fundamental role in ensuring this financial protection and access to quality care.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705600" y="1680120"/>
            <a:ext cx="486060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Global Comparison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705600" y="2171551"/>
            <a:ext cx="4629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Japan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is globally recognized for its universal health coverage (UHC) model.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705600" y="2891581"/>
            <a:ext cx="4629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Bangladesh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still faces gaps in coverage, resources, implementation, and governance.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705600" y="3611612"/>
            <a:ext cx="4629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This report compares the existing systems to identify solutions for Bangladesh.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3;p16" descr="image.png"/>
          <p:cNvPicPr preferRelativeResize="0"/>
          <p:nvPr/>
        </p:nvPicPr>
        <p:blipFill rotWithShape="1">
          <a:blip r:embed="rId1">
            <a:alphaModFix amt="40000"/>
            <a:lum bright="-18000" contrast="36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s 2"/>
          <p:cNvSpPr/>
          <p:nvPr/>
        </p:nvSpPr>
        <p:spPr>
          <a:xfrm>
            <a:off x="-173990" y="-74930"/>
            <a:ext cx="12489815" cy="7116445"/>
          </a:xfrm>
          <a:prstGeom prst="rect">
            <a:avLst/>
          </a:prstGeom>
          <a:solidFill>
            <a:schemeClr val="tx1">
              <a:lumMod val="95000"/>
              <a:lumOff val="5000"/>
              <a:alpha val="9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394370"/>
            <a:ext cx="2619375" cy="4987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381375" y="1394370"/>
            <a:ext cx="2619375" cy="4987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191250" y="1394370"/>
            <a:ext cx="2619375" cy="4987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001125" y="1394370"/>
            <a:ext cx="2619375" cy="49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chemeClr val="bg2">
                    <a:lumMod val="75000"/>
                  </a:schemeClr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Scenario of </a:t>
            </a:r>
            <a:r>
              <a:rPr lang="en-US" sz="3150" b="1" i="0" u="none" strike="noStrike" cap="none">
                <a:ln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Health </a:t>
            </a:r>
            <a:r>
              <a:rPr lang="en-US" sz="3150" b="1" i="0" u="none" strike="noStrike" cap="none">
                <a:solidFill>
                  <a:schemeClr val="bg2">
                    <a:lumMod val="75000"/>
                  </a:schemeClr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Insurance in Bangladesh</a:t>
            </a:r>
            <a:endParaRPr lang="en-US" sz="3150" b="1" i="0" u="none" strike="noStrike" cap="none">
              <a:solidFill>
                <a:schemeClr val="bg2">
                  <a:lumMod val="75000"/>
                </a:schemeClr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109909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766048" y="2289720"/>
            <a:ext cx="2230278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Minimal Coverage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819150" y="3244006"/>
            <a:ext cx="21240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Less than 1% of Bangladesh's population is covered by any formal health insurance.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810952" y="2289720"/>
            <a:ext cx="176022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Govt. Benefits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3629025" y="2924026"/>
            <a:ext cx="21240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Government employee health benefits exist but are reimbursement-based, not true insurance.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600825" y="2289720"/>
            <a:ext cx="18002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Pilot Schemes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438900" y="2924026"/>
            <a:ext cx="21240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Community-Based Health Insurance (CBHI) and schemes like SSK are limited to a few sub-districts.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9425701" y="2289720"/>
            <a:ext cx="177022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Private Sector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9248775" y="2924026"/>
            <a:ext cx="2124075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Mainly covers corporate employees. Struggles with inequitable access and insufficient chronic disease coverage.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643062" y="168012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500562" y="168012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286625" y="168012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120312" y="168012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972740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369A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Impact of Lack of Insurance</a:t>
            </a:r>
            <a:endParaRPr lang="en-US" sz="3150" b="1" i="0" u="none" strike="noStrike" cap="none">
              <a:solidFill>
                <a:srgbClr val="0369A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744855"/>
            <a:ext cx="6096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666750" y="227462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2275582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High Out-of-Pocket Expenditure (OOP):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Over 67% of total health expenditure is paid directly by households.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666750" y="296608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2967037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Catastrophic Health Expenditure: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Many families fall below the poverty line due to medical bills.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66750" y="365754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3658492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Limited Access: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Poor and rural communities avoid treatment due to cost.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66750" y="434899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4349948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Pressure on Public Hospitals: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Leads to overcrowding and poor service quality.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66750" y="504045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5041403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Medical Tourism: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Many seek treatment abroad due to dissatisfaction.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369A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Health Insurance Model in Japan</a:t>
            </a:r>
            <a:endParaRPr lang="en-US" sz="3150" b="1" i="0" u="none" strike="noStrike" cap="none">
              <a:solidFill>
                <a:srgbClr val="0369A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71500" y="109909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1394370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Universal Coverage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1885801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Established in 1961, ensuring all citizens and residents are covered. Funding is a mix of premiums, co-payments (typically 30%), and government subsidies.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2851546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Two Main Schemes</a:t>
            </a:r>
            <a:endParaRPr lang="en-US" sz="2100" b="0" i="0" u="none" strike="noStrike" cap="none">
              <a:solidFill>
                <a:srgbClr val="0EA5E9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4461123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system is highly regulated with standardized fees, promoting cost control, equity, and access.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66750" y="332297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3323927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Employees' Health Insurance (EHI):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salaried workers.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" name="Picture 0"/>
          <p:cNvPicPr/>
          <p:nvPr/>
        </p:nvPicPr>
        <p:blipFill>
          <a:blip r:embed="rId2"/>
          <a:stretch>
            <a:fillRect/>
          </a:stretch>
        </p:blipFill>
        <p:spPr>
          <a:xfrm>
            <a:off x="6908165" y="1513840"/>
            <a:ext cx="4387215" cy="3895090"/>
          </a:xfrm>
          <a:prstGeom prst="rect">
            <a:avLst/>
          </a:prstGeom>
          <a:effectLst>
            <a:outerShdw blurRad="254000" dist="241300" dir="1260000" rotWithShape="0">
              <a:prstClr val="black">
                <a:alpha val="15000"/>
              </a:prstClr>
            </a:outerShdw>
            <a:softEdge rad="63500"/>
          </a:effectLst>
        </p:spPr>
      </p:pic>
      <p:sp>
        <p:nvSpPr>
          <p:cNvPr id="191" name="Google Shape;191;p19"/>
          <p:cNvSpPr txBox="1"/>
          <p:nvPr/>
        </p:nvSpPr>
        <p:spPr>
          <a:xfrm>
            <a:off x="666750" y="374014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762000" y="3741092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National Health Insurance (NHI):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unemployed, farmers, elderly, and students.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0"/>
          <p:cNvPicPr/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0485" y="0"/>
            <a:ext cx="12192000" cy="685800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-130175" y="-74930"/>
            <a:ext cx="12462510" cy="7099935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chemeClr val="accent1">
                    <a:lumMod val="75000"/>
                  </a:schemeClr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Comparison: Bangladesh vs. Japan</a:t>
            </a:r>
            <a:endParaRPr lang="en-US" sz="3150" b="1" i="0" u="none" strike="noStrike" cap="none">
              <a:solidFill>
                <a:schemeClr val="accent1">
                  <a:lumMod val="75000"/>
                </a:schemeClr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71500" y="109909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01" name="Google Shape;201;p20"/>
          <p:cNvGraphicFramePr/>
          <p:nvPr/>
        </p:nvGraphicFramePr>
        <p:xfrm>
          <a:off x="571500" y="2426940"/>
          <a:ext cx="11049000" cy="3112625"/>
        </p:xfrm>
        <a:graphic>
          <a:graphicData uri="http://schemas.openxmlformats.org/drawingml/2006/table">
            <a:tbl>
              <a:tblPr firstRow="1" bandRow="1">
                <a:noFill/>
                <a:tableStyleId>{7E9639D4-E3E2-4D34-9284-5A2195B3D0D7}</a:tableStyleId>
              </a:tblPr>
              <a:tblGrid>
                <a:gridCol w="2209800"/>
                <a:gridCol w="4419600"/>
                <a:gridCol w="4419600"/>
              </a:tblGrid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Feature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Bangladesh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Japan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</a:tr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Coverage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Limited coverage (&lt;1% formal insurance).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Universal coverage for all citizens.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</a:tr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Funding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Heavily reliant on Out-of-Pocket payments.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Multi-source: Premiums, Taxes, Co-payments.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</a:tr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Access &amp; Equity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Unequal; urban areas have better facilities.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High accessibility with well-distributed infrastructure.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</a:tr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Challenges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Low funding, infrastructure deficits, administrative inefficiency.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/>
                        <a:t>Demographic pressures (aging society) and cost inflation.</a:t>
                      </a:r>
                      <a:endParaRPr lang="en-US" sz="1600" b="0" u="none" strike="noStrike" cap="none"/>
                    </a:p>
                  </a:txBody>
                  <a:tcPr marL="63500" marR="63500" marT="25400" marB="25400" anchor="ctr"/>
                </a:tc>
              </a:tr>
            </a:tbl>
          </a:graphicData>
        </a:graphic>
      </p:graphicFrame>
      <p:sp>
        <p:nvSpPr>
          <p:cNvPr id="202" name="Google Shape;202;p20"/>
          <p:cNvSpPr/>
          <p:nvPr/>
        </p:nvSpPr>
        <p:spPr>
          <a:xfrm>
            <a:off x="571500" y="3542258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2781300" y="3542258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7200900" y="3542258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71500" y="4111823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781300" y="4111823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7200900" y="4111823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71500" y="4681388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781300" y="4681388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200900" y="4681388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71500" y="5525244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2781300" y="5525244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7200900" y="5525244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0"/>
          <p:cNvPicPr/>
          <p:nvPr/>
        </p:nvPicPr>
        <p:blipFill>
          <a:blip r:embed="rId1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107950"/>
            <a:ext cx="12191365" cy="6965950"/>
          </a:xfrm>
          <a:prstGeom prst="rect">
            <a:avLst/>
          </a:prstGeom>
        </p:spPr>
      </p:pic>
      <p:sp>
        <p:nvSpPr>
          <p:cNvPr id="219" name="Google Shape;219;p21"/>
          <p:cNvSpPr txBox="1"/>
          <p:nvPr/>
        </p:nvSpPr>
        <p:spPr>
          <a:xfrm>
            <a:off x="571500" y="476250"/>
            <a:ext cx="1160145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369A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Recommendations for Bangladesh</a:t>
            </a:r>
            <a:endParaRPr lang="en-US" sz="3600" b="1" i="0" u="none" strike="noStrike" cap="none">
              <a:solidFill>
                <a:srgbClr val="0369A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71500" y="109909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904875" y="2512575"/>
            <a:ext cx="49530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Introduce </a:t>
            </a:r>
            <a:r>
              <a:rPr lang="en-US" sz="180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National Mandatory Health Insurance</a:t>
            </a: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similar to Japan.</a:t>
            </a:r>
            <a:endParaRPr lang="en-US" sz="18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904875" y="3325375"/>
            <a:ext cx="49530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Expand the </a:t>
            </a:r>
            <a:r>
              <a:rPr lang="en-US" sz="180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SSK Scheme</a:t>
            </a: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nationwide targeting low-income families.</a:t>
            </a:r>
            <a:endParaRPr lang="en-US" sz="18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904875" y="4235330"/>
            <a:ext cx="49530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Implement </a:t>
            </a:r>
            <a:r>
              <a:rPr lang="en-US" sz="180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Public-Private Partnerships (PPP)</a:t>
            </a: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insurance packages.</a:t>
            </a:r>
            <a:endParaRPr lang="en-US" sz="18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667500" y="2377955"/>
            <a:ext cx="49530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Establish a </a:t>
            </a:r>
            <a:r>
              <a:rPr lang="en-US" sz="180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National Health Price Authority</a:t>
            </a: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for standardized fee schedules.</a:t>
            </a:r>
            <a:endParaRPr lang="en-US" sz="18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667500" y="3178175"/>
            <a:ext cx="4953000" cy="64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Develop a long-term </a:t>
            </a:r>
            <a:r>
              <a:rPr lang="en-US" sz="180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10-year UHC Implementation Plan</a:t>
            </a: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US" sz="18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667500" y="3950850"/>
            <a:ext cx="49530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Strengthen governance and monitoring o</a:t>
            </a:r>
            <a:r>
              <a:rPr lang="en-GB" alt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insurance authorities.</a:t>
            </a:r>
            <a:endParaRPr lang="en-US" sz="18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667500" y="4860170"/>
            <a:ext cx="49530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Collaborate with Japan for technical support, accreditation, and technology transfer.</a:t>
            </a:r>
            <a:endParaRPr lang="en-US" sz="180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28" name="Google Shape;228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973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4974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4378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5449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33450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41426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505067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1">
            <a:alphaModFix amt="60000"/>
            <a:lum bright="-6000" contrast="6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240" name="Google Shape;240;p22"/>
          <p:cNvSpPr txBox="1"/>
          <p:nvPr/>
        </p:nvSpPr>
        <p:spPr>
          <a:xfrm>
            <a:off x="2095500" y="1866155"/>
            <a:ext cx="8001000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Conclusion</a:t>
            </a:r>
            <a:endParaRPr lang="en-US" sz="4200" b="1" i="0" u="none" strike="noStrike" cap="none">
              <a:solidFill>
                <a:srgbClr val="FFFFFF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2286000" y="279186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Japan's health policy is a well-structured system offering comprehensive financial protection.</a:t>
            </a:r>
            <a:endParaRPr lang="en-US" sz="1800" b="0" i="0" u="none" strike="noStrike" cap="none">
              <a:solidFill>
                <a:srgbClr val="E2E8F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2286000" y="3751808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 contrast, Bangladesh is in the early stages. Learning from Japan's experience in universality, Bangladesh needs to increase public investment, expand coverage, and strengthen regulations.</a:t>
            </a:r>
            <a:endParaRPr lang="en-US" sz="1800" b="0" i="0" u="none" strike="noStrike" cap="none">
              <a:solidFill>
                <a:srgbClr val="E2E8F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4090749" y="2620267"/>
            <a:ext cx="40105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0369A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Questions?</a:t>
            </a:r>
            <a:endParaRPr lang="en-US" sz="6000" b="0" i="0" u="none" strike="noStrike" cap="none">
              <a:solidFill>
                <a:srgbClr val="0369A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4186237" y="3820417"/>
            <a:ext cx="38195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Thank you for your attention.</a:t>
            </a:r>
            <a:endParaRPr lang="en-US" sz="1350" b="0" i="0" u="none" strike="noStrike" cap="none">
              <a:solidFill>
                <a:srgbClr val="1E293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9.54062992125984,&quot;left&quot;:45,&quot;top&quot;:121.79291338582678,&quot;width&quot;:412.5}"/>
</p:tagLst>
</file>

<file path=ppt/tags/tag2.xml><?xml version="1.0" encoding="utf-8"?>
<p:tagLst xmlns:p="http://schemas.openxmlformats.org/presentationml/2006/main">
  <p:tag name="KSO_WM_DIAGRAM_VIRTUALLY_FRAME" val="{&quot;height&quot;:189.54062992125984,&quot;left&quot;:45,&quot;top&quot;:121.79291338582678,&quot;width&quot;:412.5}"/>
</p:tagLst>
</file>

<file path=ppt/tags/tag3.xml><?xml version="1.0" encoding="utf-8"?>
<p:tagLst xmlns:p="http://schemas.openxmlformats.org/presentationml/2006/main">
  <p:tag name="KSO_WM_DIAGRAM_VIRTUALLY_FRAME" val="{&quot;height&quot;:189.54062992125984,&quot;left&quot;:45,&quot;top&quot;:121.79291338582678,&quot;width&quot;:412.5}"/>
</p:tagLst>
</file>

<file path=ppt/tags/tag4.xml><?xml version="1.0" encoding="utf-8"?>
<p:tagLst xmlns:p="http://schemas.openxmlformats.org/presentationml/2006/main">
  <p:tag name="KSO_WM_DIAGRAM_VIRTUALLY_FRAME" val="{&quot;height&quot;:189.54062992125984,&quot;left&quot;:45,&quot;top&quot;:121.79291338582678,&quot;width&quot;:412.5}"/>
</p:tagLst>
</file>

<file path=ppt/tags/tag5.xml><?xml version="1.0" encoding="utf-8"?>
<p:tagLst xmlns:p="http://schemas.openxmlformats.org/presentationml/2006/main">
  <p:tag name="KSO_WM_DIAGRAM_VIRTUALLY_FRAME" val="{&quot;height&quot;:189.54062992125984,&quot;left&quot;:45,&quot;top&quot;:121.79291338582678,&quot;width&quot;:412.5}"/>
</p:tagLst>
</file>

<file path=ppt/tags/tag6.xml><?xml version="1.0" encoding="utf-8"?>
<p:tagLst xmlns:p="http://schemas.openxmlformats.org/presentationml/2006/main">
  <p:tag name="KSO_WM_DIAGRAM_VIRTUALLY_FRAME" val="{&quot;height&quot;:189.54062992125984,&quot;left&quot;:45,&quot;top&quot;:121.79291338582678,&quot;width&quot;:412.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4161</Words>
  <Application>WPS Presentation</Application>
  <PresentationFormat/>
  <Paragraphs>169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Roboto Medium</vt:lpstr>
      <vt:lpstr>Roboto</vt:lpstr>
      <vt:lpstr>Lato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SIAM MD. RAHAT 242-15-776</cp:lastModifiedBy>
  <cp:revision>1</cp:revision>
  <dcterms:created xsi:type="dcterms:W3CDTF">2025-12-04T16:42:59Z</dcterms:created>
  <dcterms:modified xsi:type="dcterms:W3CDTF">2025-12-04T16:43:00Z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EF7EF1BFE05448509CCF976170A293DA_12</vt:lpwstr>
  </property>
  <property fmtid="{D5CDD505-2E9C-101B-9397-08002B2CF9AE}" pid="3" name="KSOProductBuildVer">
    <vt:lpwstr>1033-12.2.0.23155</vt:lpwstr>
  </property>
</Properties>
</file>